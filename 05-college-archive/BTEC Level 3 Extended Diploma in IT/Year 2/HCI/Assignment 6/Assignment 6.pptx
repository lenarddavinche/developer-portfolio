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905500" cx="8353425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004121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1004121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Shape 1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idx="2" type="sldImg"/>
          </p:nvPr>
        </p:nvSpPr>
        <p:spPr>
          <a:xfrm>
            <a:off x="1004112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idx="2" type="sldImg"/>
          </p:nvPr>
        </p:nvSpPr>
        <p:spPr>
          <a:xfrm>
            <a:off x="1004121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Shape 13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idx="2" type="sldImg"/>
          </p:nvPr>
        </p:nvSpPr>
        <p:spPr>
          <a:xfrm>
            <a:off x="1004121" y="685800"/>
            <a:ext cx="48504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Shape 13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284759" y="854882"/>
            <a:ext cx="7783800" cy="23568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284751" y="3253995"/>
            <a:ext cx="77838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284751" y="2469494"/>
            <a:ext cx="7783800" cy="96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284751" y="510955"/>
            <a:ext cx="77838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284751" y="1323212"/>
            <a:ext cx="7783800" cy="3922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284751" y="510955"/>
            <a:ext cx="77838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284751" y="1323212"/>
            <a:ext cx="3654000" cy="3922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414599" y="1323212"/>
            <a:ext cx="3654000" cy="3922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284751" y="510955"/>
            <a:ext cx="77838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284751" y="637911"/>
            <a:ext cx="2565300" cy="867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284751" y="1595467"/>
            <a:ext cx="2565300" cy="3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47864" y="516839"/>
            <a:ext cx="5817300" cy="46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176713" y="29"/>
            <a:ext cx="4176600" cy="590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42545" y="1415868"/>
            <a:ext cx="3695400" cy="17019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42545" y="3218345"/>
            <a:ext cx="3695400" cy="1418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512439" y="831489"/>
            <a:ext cx="3505200" cy="424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284751" y="4857327"/>
            <a:ext cx="5480100" cy="6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284751" y="1269995"/>
            <a:ext cx="7783800" cy="2254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284751" y="3619221"/>
            <a:ext cx="7783800" cy="1493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284751" y="510955"/>
            <a:ext cx="77838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284751" y="1323212"/>
            <a:ext cx="7783800" cy="3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7739943" y="5354064"/>
            <a:ext cx="501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Shape 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353425" cy="5905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Shape 59"/>
          <p:cNvPicPr preferRelativeResize="0"/>
          <p:nvPr/>
        </p:nvPicPr>
        <p:blipFill rotWithShape="1">
          <a:blip r:embed="rId3">
            <a:alphaModFix/>
          </a:blip>
          <a:srcRect b="0" l="10216" r="10216" t="0"/>
          <a:stretch/>
        </p:blipFill>
        <p:spPr>
          <a:xfrm>
            <a:off x="-75" y="0"/>
            <a:ext cx="8353502" cy="59054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Shape 60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Market Overview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Shape 61"/>
          <p:cNvSpPr txBox="1"/>
          <p:nvPr/>
        </p:nvSpPr>
        <p:spPr>
          <a:xfrm>
            <a:off x="284800" y="1866275"/>
            <a:ext cx="68133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PC, Xbox One and Playstation 4 systems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Game Market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○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Casual Games 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○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Crime Games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○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Story Based Games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Shape 66"/>
          <p:cNvPicPr preferRelativeResize="0"/>
          <p:nvPr/>
        </p:nvPicPr>
        <p:blipFill rotWithShape="1">
          <a:blip r:embed="rId3">
            <a:alphaModFix/>
          </a:blip>
          <a:srcRect b="0" l="2669" r="2660" t="0"/>
          <a:stretch/>
        </p:blipFill>
        <p:spPr>
          <a:xfrm>
            <a:off x="0" y="0"/>
            <a:ext cx="83535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Shape 67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Market Opportunity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Shape 68"/>
          <p:cNvSpPr txBox="1"/>
          <p:nvPr/>
        </p:nvSpPr>
        <p:spPr>
          <a:xfrm>
            <a:off x="284800" y="1866275"/>
            <a:ext cx="66696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Similar games proven successful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Release of New Star Wars Movies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Market for Star Wars Games Growing 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○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New </a:t>
            </a: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Star Wars Games on High Demand 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Shape 73"/>
          <p:cNvPicPr preferRelativeResize="0"/>
          <p:nvPr/>
        </p:nvPicPr>
        <p:blipFill rotWithShape="1">
          <a:blip r:embed="rId3">
            <a:alphaModFix/>
          </a:blip>
          <a:srcRect b="4196" l="-731" r="24483" t="0"/>
          <a:stretch/>
        </p:blipFill>
        <p:spPr>
          <a:xfrm>
            <a:off x="0" y="0"/>
            <a:ext cx="8353501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Shape 74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Game Overview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Shape 75"/>
          <p:cNvSpPr txBox="1"/>
          <p:nvPr/>
        </p:nvSpPr>
        <p:spPr>
          <a:xfrm>
            <a:off x="284800" y="1866275"/>
            <a:ext cx="62529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Single Player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Story Based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Dark and Violent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○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Emotional setting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○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Target Audience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Shape 80"/>
          <p:cNvPicPr preferRelativeResize="0"/>
          <p:nvPr/>
        </p:nvPicPr>
        <p:blipFill rotWithShape="1">
          <a:blip r:embed="rId3">
            <a:alphaModFix/>
          </a:blip>
          <a:srcRect b="0" l="17509" r="2935" t="0"/>
          <a:stretch/>
        </p:blipFill>
        <p:spPr>
          <a:xfrm>
            <a:off x="0" y="0"/>
            <a:ext cx="8353496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Shape 81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Inspiration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Shape 82"/>
          <p:cNvSpPr txBox="1"/>
          <p:nvPr/>
        </p:nvSpPr>
        <p:spPr>
          <a:xfrm>
            <a:off x="284800" y="1866275"/>
            <a:ext cx="62529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Star Wars franchise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Cyberpunk subgenre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Story Driven Games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Crime focused Games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Open world Games 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Shape 87"/>
          <p:cNvPicPr preferRelativeResize="0"/>
          <p:nvPr/>
        </p:nvPicPr>
        <p:blipFill rotWithShape="1">
          <a:blip r:embed="rId3">
            <a:alphaModFix/>
          </a:blip>
          <a:srcRect b="0" l="10222" r="10222" t="0"/>
          <a:stretch/>
        </p:blipFill>
        <p:spPr>
          <a:xfrm>
            <a:off x="0" y="0"/>
            <a:ext cx="8353496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Shape 88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Game World &amp; Theme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Shape 89"/>
          <p:cNvSpPr txBox="1"/>
          <p:nvPr/>
        </p:nvSpPr>
        <p:spPr>
          <a:xfrm>
            <a:off x="284800" y="1866275"/>
            <a:ext cx="62529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Open World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Set in the Underworld of Coruscant During the Imperial Era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Star Wars / Cyberpunk themed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○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Visuals of Poverty, Crime and Hardship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Shape 94"/>
          <p:cNvPicPr preferRelativeResize="0"/>
          <p:nvPr/>
        </p:nvPicPr>
        <p:blipFill rotWithShape="1">
          <a:blip r:embed="rId3">
            <a:alphaModFix/>
          </a:blip>
          <a:srcRect b="0" l="13673" r="13673" t="0"/>
          <a:stretch/>
        </p:blipFill>
        <p:spPr>
          <a:xfrm>
            <a:off x="0" y="0"/>
            <a:ext cx="8353498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hape 95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Gameplay Style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Shape 96"/>
          <p:cNvSpPr txBox="1"/>
          <p:nvPr/>
        </p:nvSpPr>
        <p:spPr>
          <a:xfrm>
            <a:off x="284800" y="1866275"/>
            <a:ext cx="54903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Think of it as Star Wars meets 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Mafia / Grand Theft Auto / Saints Row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3rd Person Shooter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Territorial Gang Warfare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Interaction with Environment 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Shape 101"/>
          <p:cNvPicPr preferRelativeResize="0"/>
          <p:nvPr/>
        </p:nvPicPr>
        <p:blipFill rotWithShape="1">
          <a:blip r:embed="rId3">
            <a:alphaModFix/>
          </a:blip>
          <a:srcRect b="0" l="10216" r="10216" t="0"/>
          <a:stretch/>
        </p:blipFill>
        <p:spPr>
          <a:xfrm>
            <a:off x="0" y="0"/>
            <a:ext cx="8353501" cy="590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Shape 102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Characters &amp; Story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Shape 103"/>
          <p:cNvSpPr txBox="1"/>
          <p:nvPr/>
        </p:nvSpPr>
        <p:spPr>
          <a:xfrm>
            <a:off x="284800" y="1866275"/>
            <a:ext cx="62529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Heavy Emotional Story Setting 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One </a:t>
            </a: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Playable Character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NPC Interactions with the Player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Notable Emotional impact on Characters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Shape 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5210" y="1808438"/>
            <a:ext cx="1883165" cy="166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Shape 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5213" y="3826513"/>
            <a:ext cx="1883174" cy="94158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Shape 106"/>
          <p:cNvSpPr txBox="1"/>
          <p:nvPr/>
        </p:nvSpPr>
        <p:spPr>
          <a:xfrm>
            <a:off x="6235238" y="3470075"/>
            <a:ext cx="18831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00"/>
                </a:solidFill>
              </a:rPr>
              <a:t>Alisia character concept art</a:t>
            </a:r>
            <a:endParaRPr sz="1100">
              <a:solidFill>
                <a:srgbClr val="FFFF00"/>
              </a:solidFill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5965725" y="4768100"/>
            <a:ext cx="23877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00"/>
                </a:solidFill>
              </a:rPr>
              <a:t>Alisia’s speeder (“Whirlwind”) and her blaster (“The Persuader”) concept art</a:t>
            </a:r>
            <a:endParaRPr sz="11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Shape 112"/>
          <p:cNvPicPr preferRelativeResize="0"/>
          <p:nvPr/>
        </p:nvPicPr>
        <p:blipFill rotWithShape="1">
          <a:blip r:embed="rId3">
            <a:alphaModFix/>
          </a:blip>
          <a:srcRect b="0" l="3557" r="3557" t="0"/>
          <a:stretch/>
        </p:blipFill>
        <p:spPr>
          <a:xfrm>
            <a:off x="0" y="0"/>
            <a:ext cx="8353425" cy="59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Shape 113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Unique Factors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Shape 114"/>
          <p:cNvSpPr txBox="1"/>
          <p:nvPr/>
        </p:nvSpPr>
        <p:spPr>
          <a:xfrm>
            <a:off x="284800" y="1866275"/>
            <a:ext cx="62529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Theme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Gameplay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Audio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Story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No Evidence of a Similar Game Style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Shape 119"/>
          <p:cNvPicPr preferRelativeResize="0"/>
          <p:nvPr/>
        </p:nvPicPr>
        <p:blipFill rotWithShape="1">
          <a:blip r:embed="rId3">
            <a:alphaModFix/>
          </a:blip>
          <a:srcRect b="0" l="10216" r="10216" t="0"/>
          <a:stretch/>
        </p:blipFill>
        <p:spPr>
          <a:xfrm>
            <a:off x="0" y="0"/>
            <a:ext cx="8353426" cy="5905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Shape 120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Development Goals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Shape 121"/>
          <p:cNvSpPr txBox="1"/>
          <p:nvPr/>
        </p:nvSpPr>
        <p:spPr>
          <a:xfrm>
            <a:off x="284800" y="1866275"/>
            <a:ext cx="62529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Concept for Story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Concept for Gameplay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Concept for Game World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Further Testing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Full Release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Shape 126"/>
          <p:cNvPicPr preferRelativeResize="0"/>
          <p:nvPr/>
        </p:nvPicPr>
        <p:blipFill rotWithShape="1">
          <a:blip r:embed="rId3">
            <a:alphaModFix/>
          </a:blip>
          <a:srcRect b="0" l="20523" r="20535" t="0"/>
          <a:stretch/>
        </p:blipFill>
        <p:spPr>
          <a:xfrm>
            <a:off x="0" y="0"/>
            <a:ext cx="8353502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Shape 127"/>
          <p:cNvSpPr txBox="1"/>
          <p:nvPr>
            <p:ph type="title"/>
          </p:nvPr>
        </p:nvSpPr>
        <p:spPr>
          <a:xfrm>
            <a:off x="0" y="627200"/>
            <a:ext cx="8353500" cy="9666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Current Status</a:t>
            </a:r>
            <a:endParaRPr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Shape 128"/>
          <p:cNvSpPr txBox="1"/>
          <p:nvPr/>
        </p:nvSpPr>
        <p:spPr>
          <a:xfrm>
            <a:off x="284800" y="1866275"/>
            <a:ext cx="6252900" cy="3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Concept Art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Game Documentation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In the Progress of Story Writing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Pre-Prototype 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Montserrat"/>
              <a:buChar char="●"/>
            </a:pPr>
            <a:r>
              <a:rPr lang="en-GB" sz="2400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Testing Proof of Story</a:t>
            </a:r>
            <a:endParaRPr sz="2400">
              <a:solidFill>
                <a:srgbClr val="FFF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Shape 133"/>
          <p:cNvPicPr preferRelativeResize="0"/>
          <p:nvPr/>
        </p:nvPicPr>
        <p:blipFill rotWithShape="1">
          <a:blip r:embed="rId3">
            <a:alphaModFix/>
          </a:blip>
          <a:srcRect b="0" l="10511" r="10511" t="0"/>
          <a:stretch/>
        </p:blipFill>
        <p:spPr>
          <a:xfrm>
            <a:off x="0" y="50"/>
            <a:ext cx="8353426" cy="5905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Shape 134"/>
          <p:cNvSpPr txBox="1"/>
          <p:nvPr>
            <p:ph type="title"/>
          </p:nvPr>
        </p:nvSpPr>
        <p:spPr>
          <a:xfrm>
            <a:off x="284751" y="2469494"/>
            <a:ext cx="7783800" cy="966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00"/>
                </a:solidFill>
              </a:rPr>
              <a:t>Questions &amp; Answers</a:t>
            </a:r>
            <a:endParaRPr sz="4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Shape 139"/>
          <p:cNvPicPr preferRelativeResize="0"/>
          <p:nvPr/>
        </p:nvPicPr>
        <p:blipFill rotWithShape="1">
          <a:blip r:embed="rId3">
            <a:alphaModFix/>
          </a:blip>
          <a:srcRect b="5740" l="0" r="0" t="0"/>
          <a:stretch/>
        </p:blipFill>
        <p:spPr>
          <a:xfrm>
            <a:off x="0" y="0"/>
            <a:ext cx="8353424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Shape 140"/>
          <p:cNvSpPr txBox="1"/>
          <p:nvPr>
            <p:ph type="title"/>
          </p:nvPr>
        </p:nvSpPr>
        <p:spPr>
          <a:xfrm>
            <a:off x="284751" y="2469494"/>
            <a:ext cx="7783800" cy="966600"/>
          </a:xfrm>
          <a:prstGeom prst="rect">
            <a:avLst/>
          </a:prstGeom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00"/>
                </a:solidFill>
              </a:rPr>
              <a:t>Thank You</a:t>
            </a:r>
            <a:endParaRPr sz="4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